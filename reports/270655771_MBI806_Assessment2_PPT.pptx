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3A4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3A42"/>
                </a:solidFill>
                <a:latin typeface="Arial"/>
              </a:rPr>
              <a:t>Avg Weekly Health Score by Age Group &amp; Gender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3A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50–59</c:v>
                  </c:pt>
                  <c:pt idx="1">
                    <c:v>60–69</c:v>
                  </c:pt>
                  <c:pt idx="2">
                    <c:v>70–79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81.9</c:v>
                </c:pt>
                <c:pt idx="1">
                  <c:v>79.7</c:v>
                </c:pt>
                <c:pt idx="2">
                  <c:v>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3A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50–59</c:v>
                  </c:pt>
                  <c:pt idx="1">
                    <c:v>60–69</c:v>
                  </c:pt>
                  <c:pt idx="2">
                    <c:v>70–79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70.8</c:v>
                </c:pt>
                <c:pt idx="1">
                  <c:v>77</c:v>
                </c:pt>
                <c:pt idx="2">
                  <c:v>76.7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3A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3A4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3A42"/>
                </a:solidFill>
                <a:latin typeface="Arial"/>
              </a:rPr>
              <a:t>Patient Risk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6F51"/>
              </a:solidFill>
              <a:effectLst/>
            </c:spPr>
          </c:dPt>
          <c:dPt>
            <c:idx val="1"/>
            <c:bubble3D val="0"/>
            <c:spPr>
              <a:solidFill>
                <a:srgbClr val="02A99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 Risk (70%)</c:v>
                </c:pt>
                <c:pt idx="1">
                  <c:v>Low Risk (30%)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1097280"/>
            <a:ext cx="5029200" cy="50292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0"/>
            <a:ext cx="3200400" cy="3200400"/>
          </a:xfrm>
          <a:prstGeom prst="ellipse">
            <a:avLst/>
          </a:prstGeom>
          <a:solidFill>
            <a:srgbClr val="02A99B">
              <a:alpha val="20000"/>
            </a:srgbClr>
          </a:solidFill>
          <a:ln w="12700">
            <a:solidFill>
              <a:srgbClr val="02A99B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SMARTCARE INITIATIVE · NEW ZEALAND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Monitoring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Smartwatches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Analytics Case Study · MBI806B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2286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0050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Vikash Sharma  </a:t>
            </a:r>
            <a:pPr indent="0" marL="0">
              <a:buNone/>
            </a:pPr>
            <a:r>
              <a:rPr lang="en-US" sz="1200" dirty="0">
                <a:solidFill>
                  <a:srgbClr val="7E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Student ID: 270655771  ·  24 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2A32"/>
          </a:solidFill>
          <a:ln w="12700">
            <a:solidFill>
              <a:srgbClr val="012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SmartCare distributed smartwatches to 50 patients aged 50–79 to monitor heart rate, sleep quality, physical activity, stress, fall risk and health scores — driving a shift from reactive treatment to preventive care.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26060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4EE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91640"/>
            <a:ext cx="260604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5623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24414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691640"/>
            <a:ext cx="26060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4EE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691640"/>
            <a:ext cx="2606040" cy="1097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85623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154680" y="24414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1691640"/>
            <a:ext cx="26060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4EE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1691640"/>
            <a:ext cx="2606040" cy="1097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85623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989320" y="24414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Alert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154680"/>
            <a:ext cx="26060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4EE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54680"/>
            <a:ext cx="2606040" cy="109728"/>
          </a:xfrm>
          <a:prstGeom prst="rect">
            <a:avLst/>
          </a:prstGeom>
          <a:solidFill>
            <a:srgbClr val="02A99B"/>
          </a:solidFill>
          <a:ln w="12700">
            <a:solidFill>
              <a:srgbClr val="02A9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31927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A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7,482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320040" y="390448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54680" y="3154680"/>
            <a:ext cx="26060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4EE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3154680"/>
            <a:ext cx="2606040" cy="109728"/>
          </a:xfrm>
          <a:prstGeom prst="rect">
            <a:avLst/>
          </a:prstGeom>
          <a:solidFill>
            <a:srgbClr val="40A98D"/>
          </a:solidFill>
          <a:ln w="12700">
            <a:solidFill>
              <a:srgbClr val="40A98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331927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0A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hrs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3154680" y="390448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Sleep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3154680"/>
            <a:ext cx="26060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4EE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89320" y="3154680"/>
            <a:ext cx="2606040" cy="109728"/>
          </a:xfrm>
          <a:prstGeom prst="rect">
            <a:avLst/>
          </a:prstGeom>
          <a:solidFill>
            <a:srgbClr val="40A98D"/>
          </a:solidFill>
          <a:ln w="12700">
            <a:solidFill>
              <a:srgbClr val="40A98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331927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0A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5989320" y="390448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Health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/100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2A32"/>
          </a:solidFill>
          <a:ln w="12700">
            <a:solidFill>
              <a:srgbClr val="012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E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40233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46304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patients · 13 variables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Range: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1993392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– 79 years (avg 67.2)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52374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91640" y="2523744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Female · 40% Male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054096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3054096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Rate, Sleep, Steps,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Stress, Fall Alerts, Health Score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584448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358444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complete · no missing values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11480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91640" y="411480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50–59 (n=11) · 60–69 (n=14) · 70–79 (n=25)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96012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E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960120"/>
            <a:ext cx="4023360" cy="411480"/>
          </a:xfrm>
          <a:prstGeom prst="rect">
            <a:avLst/>
          </a:prstGeom>
          <a:solidFill>
            <a:srgbClr val="02A99B"/>
          </a:solidFill>
          <a:ln w="12700">
            <a:solidFill>
              <a:srgbClr val="02A9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960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Analysis Pipeline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56048" y="152704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47218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171907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cleaning &amp; preprocessing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56048" y="20574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0025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224942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heatmap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56048" y="2587752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25328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0" y="277977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charts for EDA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56048" y="3118104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30632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+ Dash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0" y="331012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analytics dashboard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56048" y="3648456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35935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12080" y="384048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 screen · threshold flagging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56048" y="417880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0" y="412394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Binning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12080" y="437083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pd.cut → 3 cohort groups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2A32"/>
          </a:solidFill>
          <a:ln w="12700">
            <a:solidFill>
              <a:srgbClr val="012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INSIGHTS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72491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E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502920" cy="1810512"/>
          </a:xfrm>
          <a:prstGeom prst="rect">
            <a:avLst/>
          </a:prstGeom>
          <a:solidFill>
            <a:srgbClr val="E76F51">
              <a:alpha val="90000"/>
            </a:srgbClr>
          </a:solidFill>
          <a:ln w="12700">
            <a:solidFill>
              <a:srgbClr val="E76F5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05156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High Risk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435608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patients (n=35) met ≥1 critical threshold — elevated stress, poor sleep, or high heart rate.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72491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E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502920" cy="1810512"/>
          </a:xfrm>
          <a:prstGeom prst="rect">
            <a:avLst/>
          </a:prstGeom>
          <a:solidFill>
            <a:srgbClr val="E76F51">
              <a:alpha val="90000"/>
            </a:srgbClr>
          </a:solidFill>
          <a:ln w="12700">
            <a:solidFill>
              <a:srgbClr val="E76F51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94760" y="105156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Alert Rate 10%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4760" y="1435608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patients triggered fall alerts. Falls are the leading cause of hospitalisation for NZ adults 65+.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960120"/>
            <a:ext cx="272491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E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960120"/>
            <a:ext cx="502920" cy="1810512"/>
          </a:xfrm>
          <a:prstGeom prst="rect">
            <a:avLst/>
          </a:prstGeom>
          <a:solidFill>
            <a:srgbClr val="028090">
              <a:alpha val="90000"/>
            </a:srgbClr>
          </a:solidFill>
          <a:ln w="12700">
            <a:solidFill>
              <a:srgbClr val="028090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105156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Health Gap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1435608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avg health score 79.4 vs 75.6 for males — a 3.8-point gap across all age bands.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926080"/>
            <a:ext cx="272491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E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26080"/>
            <a:ext cx="502920" cy="1810512"/>
          </a:xfrm>
          <a:prstGeom prst="rect">
            <a:avLst/>
          </a:prstGeom>
          <a:solidFill>
            <a:srgbClr val="02A99B">
              <a:alpha val="90000"/>
            </a:srgbClr>
          </a:solidFill>
          <a:ln w="12700">
            <a:solidFill>
              <a:srgbClr val="02A99B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301752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Shortfall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401568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steps 7,482 fall short of the 10,000/day NZ guideline across the full cohort.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72491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E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26080"/>
            <a:ext cx="502920" cy="1810512"/>
          </a:xfrm>
          <a:prstGeom prst="rect">
            <a:avLst/>
          </a:prstGeom>
          <a:solidFill>
            <a:srgbClr val="02A99B">
              <a:alpha val="90000"/>
            </a:srgbClr>
          </a:solidFill>
          <a:ln w="12700">
            <a:solidFill>
              <a:srgbClr val="02A99B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94760" y="301752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is Multi-Factorial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94760" y="3401568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quality vs Stress Index r ≈ 0.003 — near-zero correlation. Stress needs multi-modal intervention.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2926080"/>
            <a:ext cx="272491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E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2926080"/>
            <a:ext cx="502920" cy="1810512"/>
          </a:xfrm>
          <a:prstGeom prst="rect">
            <a:avLst/>
          </a:prstGeom>
          <a:solidFill>
            <a:srgbClr val="E76F51">
              <a:alpha val="90000"/>
            </a:srgbClr>
          </a:solidFill>
          <a:ln w="12700">
            <a:solidFill>
              <a:srgbClr val="E76F51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75120" y="301752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Concern 70–79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75120" y="3401568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HeartRate_Max reaching 180 BPM in the oldest cohort — acute cardiac risk requiring clinical review.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2A32"/>
          </a:solidFill>
          <a:ln w="12700">
            <a:solidFill>
              <a:srgbClr val="012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&amp; RISK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20040" y="914400"/>
          <a:ext cx="50292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440680" y="914400"/>
          <a:ext cx="33375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440680" y="3291840"/>
            <a:ext cx="3337560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532120" y="340156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Steps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532120" y="370332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7,482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5532120" y="437083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10,000/day NZ guideline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40480"/>
          <a:ext cx="5029200" cy="1188720"/>
        </p:xfrm>
        <a:graphic>
          <a:graphicData uri="http://schemas.openxmlformats.org/drawingml/2006/table">
            <a:tbl>
              <a:tblPr/>
              <a:tblGrid>
                <a:gridCol w="1257300"/>
                <a:gridCol w="1257300"/>
                <a:gridCol w="1257300"/>
                <a:gridCol w="1257300"/>
              </a:tblGrid>
              <a:tr h="198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Health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Steps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2A32"/>
          </a:solidFill>
          <a:ln w="12700">
            <a:solidFill>
              <a:srgbClr val="012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E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2743200" cy="128016"/>
          </a:xfrm>
          <a:prstGeom prst="rect">
            <a:avLst/>
          </a:prstGeom>
          <a:solidFill>
            <a:srgbClr val="02A99B"/>
          </a:solidFill>
          <a:ln w="12700">
            <a:solidFill>
              <a:srgbClr val="02A9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Goal Programme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356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A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All patients (avg 7,482 steps)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coaching to reach 10,000 steps/day. Expected 15–25% increase in physical activity.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E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14400"/>
            <a:ext cx="2743200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0972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Hygiene Programme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14356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Patients with Sleep Quality Score &lt; 60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83280" y="1737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sleep hygiene plans targeting a 10+ point improvement in sleep quality scores.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9144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E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914400"/>
            <a:ext cx="2743200" cy="12801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0972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Management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14356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Patients with Stress Index ≥ 70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09360" y="1737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Mindfulness &amp; CBT referral. Target: reduce stress index below 60 within 12 weeks.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926080"/>
            <a:ext cx="3977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E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26080"/>
            <a:ext cx="3977640" cy="12801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0896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Prevention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44728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70–79 cohort · 5 fall-alert patients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74904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training + home safety assessment. Target: 50% reduction in falls over 6 months.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926080"/>
            <a:ext cx="3977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E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2926080"/>
            <a:ext cx="3977640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10896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Monitoring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344728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Patients with HeartRate_Max &gt; 160 BPM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374904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protocol for clinical review. Early arrhythmia and cardiac event detection.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Programme-Level: EHR integration · longitudinal data · ML risk prediction · patient engagement nudges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2A99B">
              <a:alpha val="18000"/>
            </a:srgbClr>
          </a:solidFill>
          <a:ln w="12700">
            <a:solidFill>
              <a:srgbClr val="02A99B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CONSIDERATIONS &amp; CONCLUSION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88620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960120"/>
            <a:ext cx="137160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03327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Consent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380744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50 patients provided documented consent. Right to withdraw &amp; 'right to forget' upheld per NZ Privacy Act 2020.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388620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60120"/>
            <a:ext cx="137160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3327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380744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PatientID anonymised; no external linkage. Data used solely for preventive health analytics (Principles 1 &amp; 10).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388620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377440"/>
            <a:ext cx="137160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45059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Fairness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798064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HR thresholds may bias patients on beta-blockers. Demographic bias audit required at clinical implementation.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377440"/>
            <a:ext cx="388620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377440"/>
            <a:ext cx="137160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45059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798064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transmission · AES-256 storage · role-based access controls · breach notification per Section 113.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8046720" cy="45720"/>
          </a:xfrm>
          <a:prstGeom prst="rect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05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2976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SmartCare demonstrates that Python-based analytics can transform smartwatch data into actionable, ethical health intelligence — enabling early risk detection, personalised interventions, and a scalable model for preventive care in New Zealand.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SmartCare Health Monitoring</dc:title>
  <dc:subject>PptxGenJS Presentation</dc:subject>
  <dc:creator>PptxGenJS</dc:creator>
  <cp:lastModifiedBy>PptxGenJS</cp:lastModifiedBy>
  <cp:revision>1</cp:revision>
  <dcterms:created xsi:type="dcterms:W3CDTF">2026-03-23T05:00:29Z</dcterms:created>
  <dcterms:modified xsi:type="dcterms:W3CDTF">2026-03-23T05:00:29Z</dcterms:modified>
</cp:coreProperties>
</file>